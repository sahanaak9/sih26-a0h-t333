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Times New Roman" charset="1" panose="02020603050405020304"/>
      <p:regular r:id="rId13"/>
    </p:embeddedFont>
    <p:embeddedFont>
      <p:font typeface="Times New Roman Bold" charset="1" panose="02020803070505020304"/>
      <p:regular r:id="rId14"/>
    </p:embeddedFont>
    <p:embeddedFont>
      <p:font typeface="Dekko" charset="1" panose="00000500000000000000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12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quicksearch.dla.mil/qsDocDetails.aspx?ident_number=35978" TargetMode="External" Type="http://schemas.openxmlformats.org/officeDocument/2006/relationships/hyperlink"/><Relationship Id="rId11" Target="../media/image4.png" Type="http://schemas.openxmlformats.org/officeDocument/2006/relationships/image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https://github.com/jeshraghian/snntorch" TargetMode="External" Type="http://schemas.openxmlformats.org/officeDocument/2006/relationships/hyperlink"/><Relationship Id="rId5" Target="https://github.com/ARM-software/CMSIS-DSP" TargetMode="External" Type="http://schemas.openxmlformats.org/officeDocument/2006/relationships/hyperlink"/><Relationship Id="rId6" Target="https://zenodo.org/records/1227121" TargetMode="External" Type="http://schemas.openxmlformats.org/officeDocument/2006/relationships/hyperlink"/><Relationship Id="rId7" Target="https://github.com/microsoft/DNS-Challenge" TargetMode="External" Type="http://schemas.openxmlformats.org/officeDocument/2006/relationships/hyperlink"/><Relationship Id="rId8" Target="https://github.com/aliutkus/speechmetrics" TargetMode="External" Type="http://schemas.openxmlformats.org/officeDocument/2006/relationships/hyperlink"/><Relationship Id="rId9" Target="https://www.itu.int/rec/T-REC-P.862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18799"/>
            <a:chOff x="0" y="0"/>
            <a:chExt cx="4816602" cy="479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602" cy="479044"/>
            </a:xfrm>
            <a:custGeom>
              <a:avLst/>
              <a:gdLst/>
              <a:ahLst/>
              <a:cxnLst/>
              <a:rect r="r" b="b" t="t" l="l"/>
              <a:pathLst>
                <a:path h="479044" w="4816602">
                  <a:moveTo>
                    <a:pt x="4816602" y="0"/>
                  </a:moveTo>
                  <a:lnTo>
                    <a:pt x="4816602" y="479044"/>
                  </a:lnTo>
                  <a:lnTo>
                    <a:pt x="0" y="47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602" cy="51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99760" y="186657"/>
            <a:ext cx="2556330" cy="1210383"/>
          </a:xfrm>
          <a:custGeom>
            <a:avLst/>
            <a:gdLst/>
            <a:ahLst/>
            <a:cxnLst/>
            <a:rect r="r" b="b" t="t" l="l"/>
            <a:pathLst>
              <a:path h="1210383" w="2556330">
                <a:moveTo>
                  <a:pt x="0" y="0"/>
                </a:moveTo>
                <a:lnTo>
                  <a:pt x="2556330" y="0"/>
                </a:lnTo>
                <a:lnTo>
                  <a:pt x="2556330" y="1210383"/>
                </a:lnTo>
                <a:lnTo>
                  <a:pt x="0" y="1210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39867" y="3825688"/>
            <a:ext cx="5019433" cy="5113186"/>
          </a:xfrm>
          <a:custGeom>
            <a:avLst/>
            <a:gdLst/>
            <a:ahLst/>
            <a:cxnLst/>
            <a:rect r="r" b="b" t="t" l="l"/>
            <a:pathLst>
              <a:path h="5113186" w="5019433">
                <a:moveTo>
                  <a:pt x="0" y="0"/>
                </a:moveTo>
                <a:lnTo>
                  <a:pt x="5019433" y="0"/>
                </a:lnTo>
                <a:lnTo>
                  <a:pt x="5019433" y="5113186"/>
                </a:lnTo>
                <a:lnTo>
                  <a:pt x="0" y="5113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43325" y="5143500"/>
            <a:ext cx="3034600" cy="3244116"/>
          </a:xfrm>
          <a:custGeom>
            <a:avLst/>
            <a:gdLst/>
            <a:ahLst/>
            <a:cxnLst/>
            <a:rect r="r" b="b" t="t" l="l"/>
            <a:pathLst>
              <a:path h="3244116" w="3034600">
                <a:moveTo>
                  <a:pt x="0" y="0"/>
                </a:moveTo>
                <a:lnTo>
                  <a:pt x="3034600" y="0"/>
                </a:lnTo>
                <a:lnTo>
                  <a:pt x="3034600" y="3244116"/>
                </a:lnTo>
                <a:lnTo>
                  <a:pt x="0" y="32441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7172" y="145647"/>
            <a:ext cx="2531734" cy="1527505"/>
          </a:xfrm>
          <a:custGeom>
            <a:avLst/>
            <a:gdLst/>
            <a:ahLst/>
            <a:cxnLst/>
            <a:rect r="r" b="b" t="t" l="l"/>
            <a:pathLst>
              <a:path h="1527505" w="2531734">
                <a:moveTo>
                  <a:pt x="0" y="0"/>
                </a:moveTo>
                <a:lnTo>
                  <a:pt x="2531734" y="0"/>
                </a:lnTo>
                <a:lnTo>
                  <a:pt x="2531734" y="1527505"/>
                </a:lnTo>
                <a:lnTo>
                  <a:pt x="0" y="1527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89006" y="349316"/>
            <a:ext cx="11109988" cy="78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846" y="3739963"/>
            <a:ext cx="12711262" cy="651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69"/>
              </a:lnSpc>
            </a:pPr>
            <a:r>
              <a:rPr lang="en-US" sz="3335">
                <a:solidFill>
                  <a:srgbClr val="0501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3335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SIH26052</a:t>
            </a:r>
          </a:p>
          <a:p>
            <a:pPr algn="just">
              <a:lnSpc>
                <a:spcPts val="4669"/>
              </a:lnSpc>
            </a:pPr>
          </a:p>
          <a:p>
            <a:pPr algn="just">
              <a:lnSpc>
                <a:spcPts val="4669"/>
              </a:lnSpc>
            </a:pPr>
            <a:r>
              <a:rPr lang="en-US" b="true" sz="3335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•Problem Statement Title- </a:t>
            </a:r>
          </a:p>
          <a:p>
            <a:pPr algn="just">
              <a:lnSpc>
                <a:spcPts val="3639"/>
              </a:lnSpc>
            </a:pPr>
            <a:r>
              <a:rPr lang="en-US" b="true" sz="2599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develop an AI/ML-enabled adaptive noise cancellation (ANC) system that effectively suppresses stationary, non-stationary, and impulsive defence noises while maintaining high speech intelligibility and real-time performance on embedded hardware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4669"/>
              </a:lnSpc>
            </a:pPr>
            <a:r>
              <a:rPr lang="en-US" b="true" sz="3335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•Theme-  Miscellaneous</a:t>
            </a:r>
          </a:p>
          <a:p>
            <a:pPr algn="just">
              <a:lnSpc>
                <a:spcPts val="4669"/>
              </a:lnSpc>
            </a:pPr>
            <a:r>
              <a:rPr lang="en-US" b="true" sz="3335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•PS Category- Hardware</a:t>
            </a:r>
          </a:p>
          <a:p>
            <a:pPr algn="just">
              <a:lnSpc>
                <a:spcPts val="4669"/>
              </a:lnSpc>
            </a:pPr>
            <a:r>
              <a:rPr lang="en-US" b="true" sz="3335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•Team ID- SIH26-A0H-T333</a:t>
            </a:r>
          </a:p>
          <a:p>
            <a:pPr algn="just">
              <a:lnSpc>
                <a:spcPts val="4669"/>
              </a:lnSpc>
            </a:pPr>
            <a:r>
              <a:rPr lang="en-US" b="true" sz="3335">
                <a:solidFill>
                  <a:srgbClr val="0501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•Team Name (Registered on portal) :Young Innovators</a:t>
            </a:r>
          </a:p>
          <a:p>
            <a:pPr algn="just">
              <a:lnSpc>
                <a:spcPts val="466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72" y="2351819"/>
            <a:ext cx="16254307" cy="81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7"/>
              </a:lnSpc>
              <a:spcBef>
                <a:spcPct val="0"/>
              </a:spcBef>
            </a:pPr>
            <a:r>
              <a:rPr lang="en-US" b="true" sz="4583" u="sng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AI/ML Adaptive Noise Cancellation for Defence 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9120"/>
            <a:ext cx="18288000" cy="1186184"/>
            <a:chOff x="0" y="0"/>
            <a:chExt cx="7385386" cy="479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85386" cy="479044"/>
            </a:xfrm>
            <a:custGeom>
              <a:avLst/>
              <a:gdLst/>
              <a:ahLst/>
              <a:cxnLst/>
              <a:rect r="r" b="b" t="t" l="l"/>
              <a:pathLst>
                <a:path h="479044" w="7385386">
                  <a:moveTo>
                    <a:pt x="7385386" y="0"/>
                  </a:moveTo>
                  <a:lnTo>
                    <a:pt x="7385386" y="479044"/>
                  </a:lnTo>
                  <a:lnTo>
                    <a:pt x="0" y="47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44706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385386" cy="536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66835" y="107888"/>
            <a:ext cx="2172503" cy="1028647"/>
          </a:xfrm>
          <a:custGeom>
            <a:avLst/>
            <a:gdLst/>
            <a:ahLst/>
            <a:cxnLst/>
            <a:rect r="r" b="b" t="t" l="l"/>
            <a:pathLst>
              <a:path h="1028647" w="2172503">
                <a:moveTo>
                  <a:pt x="0" y="0"/>
                </a:moveTo>
                <a:lnTo>
                  <a:pt x="2172503" y="0"/>
                </a:lnTo>
                <a:lnTo>
                  <a:pt x="2172503" y="1028648"/>
                </a:lnTo>
                <a:lnTo>
                  <a:pt x="0" y="1028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3362" y="1932042"/>
            <a:ext cx="10069770" cy="1297789"/>
            <a:chOff x="0" y="0"/>
            <a:chExt cx="2652120" cy="3418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2120" cy="341804"/>
            </a:xfrm>
            <a:custGeom>
              <a:avLst/>
              <a:gdLst/>
              <a:ahLst/>
              <a:cxnLst/>
              <a:rect r="r" b="b" t="t" l="l"/>
              <a:pathLst>
                <a:path h="341804" w="2652120">
                  <a:moveTo>
                    <a:pt x="0" y="0"/>
                  </a:moveTo>
                  <a:lnTo>
                    <a:pt x="2652120" y="0"/>
                  </a:lnTo>
                  <a:lnTo>
                    <a:pt x="2652120" y="341804"/>
                  </a:lnTo>
                  <a:lnTo>
                    <a:pt x="0" y="341804"/>
                  </a:lnTo>
                  <a:close/>
                </a:path>
              </a:pathLst>
            </a:custGeom>
            <a:solidFill>
              <a:srgbClr val="D9D9D9">
                <a:alpha val="2078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52120" cy="398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57172" y="1395572"/>
            <a:ext cx="7374523" cy="395238"/>
            <a:chOff x="0" y="0"/>
            <a:chExt cx="1942261" cy="104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2261" cy="104096"/>
            </a:xfrm>
            <a:custGeom>
              <a:avLst/>
              <a:gdLst/>
              <a:ahLst/>
              <a:cxnLst/>
              <a:rect r="r" b="b" t="t" l="l"/>
              <a:pathLst>
                <a:path h="104096" w="1942261">
                  <a:moveTo>
                    <a:pt x="0" y="0"/>
                  </a:moveTo>
                  <a:lnTo>
                    <a:pt x="1942261" y="0"/>
                  </a:lnTo>
                  <a:lnTo>
                    <a:pt x="1942261" y="104096"/>
                  </a:lnTo>
                  <a:lnTo>
                    <a:pt x="0" y="104096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942261" cy="161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57172" y="7886800"/>
            <a:ext cx="4551455" cy="2358514"/>
          </a:xfrm>
          <a:custGeom>
            <a:avLst/>
            <a:gdLst/>
            <a:ahLst/>
            <a:cxnLst/>
            <a:rect r="r" b="b" t="t" l="l"/>
            <a:pathLst>
              <a:path h="2358514" w="4551455">
                <a:moveTo>
                  <a:pt x="0" y="0"/>
                </a:moveTo>
                <a:lnTo>
                  <a:pt x="4551455" y="0"/>
                </a:lnTo>
                <a:lnTo>
                  <a:pt x="4551455" y="2358514"/>
                </a:lnTo>
                <a:lnTo>
                  <a:pt x="0" y="2358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52" r="0" b="-591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944869" y="7895641"/>
            <a:ext cx="4227359" cy="2358514"/>
          </a:xfrm>
          <a:custGeom>
            <a:avLst/>
            <a:gdLst/>
            <a:ahLst/>
            <a:cxnLst/>
            <a:rect r="r" b="b" t="t" l="l"/>
            <a:pathLst>
              <a:path h="2358514" w="4227359">
                <a:moveTo>
                  <a:pt x="0" y="0"/>
                </a:moveTo>
                <a:lnTo>
                  <a:pt x="4227359" y="0"/>
                </a:lnTo>
                <a:lnTo>
                  <a:pt x="4227359" y="2358514"/>
                </a:lnTo>
                <a:lnTo>
                  <a:pt x="0" y="2358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396834" y="7886800"/>
            <a:ext cx="4227359" cy="2358514"/>
          </a:xfrm>
          <a:custGeom>
            <a:avLst/>
            <a:gdLst/>
            <a:ahLst/>
            <a:cxnLst/>
            <a:rect r="r" b="b" t="t" l="l"/>
            <a:pathLst>
              <a:path h="2358514" w="4227359">
                <a:moveTo>
                  <a:pt x="0" y="0"/>
                </a:moveTo>
                <a:lnTo>
                  <a:pt x="4227359" y="0"/>
                </a:lnTo>
                <a:lnTo>
                  <a:pt x="4227359" y="2358514"/>
                </a:lnTo>
                <a:lnTo>
                  <a:pt x="0" y="23585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69002" y="7904482"/>
            <a:ext cx="4195666" cy="2340832"/>
          </a:xfrm>
          <a:custGeom>
            <a:avLst/>
            <a:gdLst/>
            <a:ahLst/>
            <a:cxnLst/>
            <a:rect r="r" b="b" t="t" l="l"/>
            <a:pathLst>
              <a:path h="2340832" w="4195666">
                <a:moveTo>
                  <a:pt x="0" y="0"/>
                </a:moveTo>
                <a:lnTo>
                  <a:pt x="4195666" y="0"/>
                </a:lnTo>
                <a:lnTo>
                  <a:pt x="4195666" y="2340832"/>
                </a:lnTo>
                <a:lnTo>
                  <a:pt x="0" y="23408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9003" y="1460424"/>
            <a:ext cx="6579546" cy="25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  <a:spcBef>
                <a:spcPct val="0"/>
              </a:spcBef>
            </a:pPr>
            <a:r>
              <a:rPr lang="en-US" b="true" sz="1370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 TO  ADDRESS  THE PROBLEM AND GENERATE 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3362" y="1750851"/>
            <a:ext cx="5282911" cy="317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8"/>
              </a:lnSpc>
            </a:pPr>
          </a:p>
          <a:p>
            <a:pPr algn="l" marL="364433" indent="-182217" lvl="1">
              <a:lnSpc>
                <a:spcPts val="2363"/>
              </a:lnSpc>
              <a:buFont typeface="Arial"/>
              <a:buChar char="•"/>
            </a:pPr>
            <a:r>
              <a:rPr lang="en-US" sz="1687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make communication clear even in noisy environments</a:t>
            </a:r>
          </a:p>
          <a:p>
            <a:pPr algn="l" marL="364433" indent="-182217" lvl="1">
              <a:lnSpc>
                <a:spcPts val="2363"/>
              </a:lnSpc>
              <a:buFont typeface="Arial"/>
              <a:buChar char="•"/>
            </a:pPr>
            <a:r>
              <a:rPr lang="en-US" sz="1687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reduce unwanted noise and make speech easier to hear</a:t>
            </a:r>
          </a:p>
          <a:p>
            <a:pPr algn="l">
              <a:lnSpc>
                <a:spcPts val="2111"/>
              </a:lnSpc>
            </a:pPr>
          </a:p>
          <a:p>
            <a:pPr algn="l">
              <a:lnSpc>
                <a:spcPts val="2028"/>
              </a:lnSpc>
              <a:spcBef>
                <a:spcPct val="0"/>
              </a:spcBef>
            </a:pPr>
          </a:p>
          <a:p>
            <a:pPr algn="l">
              <a:lnSpc>
                <a:spcPts val="5128"/>
              </a:lnSpc>
              <a:spcBef>
                <a:spcPct val="0"/>
              </a:spcBef>
            </a:pPr>
          </a:p>
          <a:p>
            <a:pPr algn="l">
              <a:lnSpc>
                <a:spcPts val="2323"/>
              </a:lnSpc>
              <a:spcBef>
                <a:spcPct val="0"/>
              </a:spcBef>
            </a:pPr>
          </a:p>
          <a:p>
            <a:pPr algn="l">
              <a:lnSpc>
                <a:spcPts val="2101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96900" y="145647"/>
            <a:ext cx="1463600" cy="883053"/>
          </a:xfrm>
          <a:custGeom>
            <a:avLst/>
            <a:gdLst/>
            <a:ahLst/>
            <a:cxnLst/>
            <a:rect r="r" b="b" t="t" l="l"/>
            <a:pathLst>
              <a:path h="883053" w="1463600">
                <a:moveTo>
                  <a:pt x="0" y="0"/>
                </a:moveTo>
                <a:lnTo>
                  <a:pt x="1463600" y="0"/>
                </a:lnTo>
                <a:lnTo>
                  <a:pt x="1463600" y="883053"/>
                </a:lnTo>
                <a:lnTo>
                  <a:pt x="0" y="883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3224" y="3693485"/>
            <a:ext cx="2773889" cy="4030497"/>
          </a:xfrm>
          <a:custGeom>
            <a:avLst/>
            <a:gdLst/>
            <a:ahLst/>
            <a:cxnLst/>
            <a:rect r="r" b="b" t="t" l="l"/>
            <a:pathLst>
              <a:path h="4030497" w="2773889">
                <a:moveTo>
                  <a:pt x="0" y="0"/>
                </a:moveTo>
                <a:lnTo>
                  <a:pt x="2773889" y="0"/>
                </a:lnTo>
                <a:lnTo>
                  <a:pt x="2773889" y="4030497"/>
                </a:lnTo>
                <a:lnTo>
                  <a:pt x="0" y="40304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7926" r="-357534" b="-8199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047428" y="159383"/>
            <a:ext cx="7985187" cy="3193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2"/>
              </a:lnSpc>
            </a:pPr>
            <a:r>
              <a:rPr lang="en-US" sz="4516" b="true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PROPOSED SOLUTION</a:t>
            </a:r>
          </a:p>
          <a:p>
            <a:pPr algn="ctr">
              <a:lnSpc>
                <a:spcPts val="6322"/>
              </a:lnSpc>
            </a:pPr>
          </a:p>
          <a:p>
            <a:pPr algn="ctr">
              <a:lnSpc>
                <a:spcPts val="6322"/>
              </a:lnSpc>
            </a:pPr>
          </a:p>
          <a:p>
            <a:pPr algn="ctr">
              <a:lnSpc>
                <a:spcPts val="6322"/>
              </a:lnSpc>
              <a:spcBef>
                <a:spcPct val="0"/>
              </a:spcBef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452527" y="1581227"/>
            <a:ext cx="4751507" cy="2595578"/>
          </a:xfrm>
          <a:custGeom>
            <a:avLst/>
            <a:gdLst/>
            <a:ahLst/>
            <a:cxnLst/>
            <a:rect r="r" b="b" t="t" l="l"/>
            <a:pathLst>
              <a:path h="2595578" w="4751507">
                <a:moveTo>
                  <a:pt x="0" y="0"/>
                </a:moveTo>
                <a:lnTo>
                  <a:pt x="4751507" y="0"/>
                </a:lnTo>
                <a:lnTo>
                  <a:pt x="4751507" y="2595578"/>
                </a:lnTo>
                <a:lnTo>
                  <a:pt x="0" y="25955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94434" r="-167104" b="-3154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17457" y="4445312"/>
            <a:ext cx="3883115" cy="3360079"/>
          </a:xfrm>
          <a:custGeom>
            <a:avLst/>
            <a:gdLst/>
            <a:ahLst/>
            <a:cxnLst/>
            <a:rect r="r" b="b" t="t" l="l"/>
            <a:pathLst>
              <a:path h="3360079" w="3883115">
                <a:moveTo>
                  <a:pt x="0" y="0"/>
                </a:moveTo>
                <a:lnTo>
                  <a:pt x="3883115" y="0"/>
                </a:lnTo>
                <a:lnTo>
                  <a:pt x="3883115" y="3360079"/>
                </a:lnTo>
                <a:lnTo>
                  <a:pt x="0" y="3360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1563" t="-187661" r="-156802" b="-2696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89249" y="3360894"/>
            <a:ext cx="7546071" cy="4363088"/>
          </a:xfrm>
          <a:custGeom>
            <a:avLst/>
            <a:gdLst/>
            <a:ahLst/>
            <a:cxnLst/>
            <a:rect r="r" b="b" t="t" l="l"/>
            <a:pathLst>
              <a:path h="4363088" w="7546071">
                <a:moveTo>
                  <a:pt x="0" y="0"/>
                </a:moveTo>
                <a:lnTo>
                  <a:pt x="7546071" y="0"/>
                </a:lnTo>
                <a:lnTo>
                  <a:pt x="7546071" y="4363088"/>
                </a:lnTo>
                <a:lnTo>
                  <a:pt x="0" y="43630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127" t="-27962" r="-42021" b="-8205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503132" y="1498525"/>
            <a:ext cx="2949395" cy="2760982"/>
          </a:xfrm>
          <a:custGeom>
            <a:avLst/>
            <a:gdLst/>
            <a:ahLst/>
            <a:cxnLst/>
            <a:rect r="r" b="b" t="t" l="l"/>
            <a:pathLst>
              <a:path h="2760982" w="2949395">
                <a:moveTo>
                  <a:pt x="0" y="0"/>
                </a:moveTo>
                <a:lnTo>
                  <a:pt x="2949395" y="0"/>
                </a:lnTo>
                <a:lnTo>
                  <a:pt x="2949395" y="2760982"/>
                </a:lnTo>
                <a:lnTo>
                  <a:pt x="0" y="27609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85325" t="-202214" r="-80707" b="-29675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307119" y="4363903"/>
            <a:ext cx="2757549" cy="3360079"/>
          </a:xfrm>
          <a:custGeom>
            <a:avLst/>
            <a:gdLst/>
            <a:ahLst/>
            <a:cxnLst/>
            <a:rect r="r" b="b" t="t" l="l"/>
            <a:pathLst>
              <a:path h="3360079" w="2757549">
                <a:moveTo>
                  <a:pt x="0" y="0"/>
                </a:moveTo>
                <a:lnTo>
                  <a:pt x="2757549" y="0"/>
                </a:lnTo>
                <a:lnTo>
                  <a:pt x="2757549" y="3360079"/>
                </a:lnTo>
                <a:lnTo>
                  <a:pt x="0" y="33600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03816" t="-202214" r="-2796" b="-29675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41911" y="2038460"/>
            <a:ext cx="5028811" cy="103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752" indent="-156376" lvl="1">
              <a:lnSpc>
                <a:spcPts val="2028"/>
              </a:lnSpc>
              <a:buFont typeface="Arial"/>
              <a:buChar char="•"/>
            </a:pPr>
            <a:r>
              <a:rPr lang="en-US" sz="1448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AI/ML to handle different types of changing noise</a:t>
            </a:r>
          </a:p>
          <a:p>
            <a:pPr algn="l" marL="312752" indent="-156376" lvl="1">
              <a:lnSpc>
                <a:spcPts val="2028"/>
              </a:lnSpc>
              <a:buFont typeface="Arial"/>
              <a:buChar char="•"/>
            </a:pPr>
            <a:r>
              <a:rPr lang="en-US" sz="1448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real-time noise cancellation with very low delay</a:t>
            </a:r>
          </a:p>
          <a:p>
            <a:pPr algn="l" marL="312752" indent="-156376" lvl="1">
              <a:lnSpc>
                <a:spcPts val="2028"/>
              </a:lnSpc>
              <a:buFont typeface="Arial"/>
              <a:buChar char="•"/>
            </a:pPr>
            <a:r>
              <a:rPr lang="en-US" sz="1448">
                <a:solidFill>
                  <a:srgbClr val="1800A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improve safety and communication for defence personnel</a:t>
            </a:r>
          </a:p>
          <a:p>
            <a:pPr algn="l">
              <a:lnSpc>
                <a:spcPts val="20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161" y="116855"/>
            <a:ext cx="1768422" cy="1460082"/>
          </a:xfrm>
          <a:custGeom>
            <a:avLst/>
            <a:gdLst/>
            <a:ahLst/>
            <a:cxnLst/>
            <a:rect r="r" b="b" t="t" l="l"/>
            <a:pathLst>
              <a:path h="1460082" w="1768422">
                <a:moveTo>
                  <a:pt x="0" y="0"/>
                </a:moveTo>
                <a:lnTo>
                  <a:pt x="1768423" y="0"/>
                </a:lnTo>
                <a:lnTo>
                  <a:pt x="1768423" y="1460082"/>
                </a:lnTo>
                <a:lnTo>
                  <a:pt x="0" y="146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818799"/>
            <a:chOff x="0" y="0"/>
            <a:chExt cx="4816602" cy="479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602" cy="479044"/>
            </a:xfrm>
            <a:custGeom>
              <a:avLst/>
              <a:gdLst/>
              <a:ahLst/>
              <a:cxnLst/>
              <a:rect r="r" b="b" t="t" l="l"/>
              <a:pathLst>
                <a:path h="479044" w="4816602">
                  <a:moveTo>
                    <a:pt x="4816602" y="0"/>
                  </a:moveTo>
                  <a:lnTo>
                    <a:pt x="4816602" y="479044"/>
                  </a:lnTo>
                  <a:lnTo>
                    <a:pt x="0" y="47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4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602" cy="51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99760" y="186657"/>
            <a:ext cx="2556330" cy="1210383"/>
          </a:xfrm>
          <a:custGeom>
            <a:avLst/>
            <a:gdLst/>
            <a:ahLst/>
            <a:cxnLst/>
            <a:rect r="r" b="b" t="t" l="l"/>
            <a:pathLst>
              <a:path h="1210383" w="2556330">
                <a:moveTo>
                  <a:pt x="0" y="0"/>
                </a:moveTo>
                <a:lnTo>
                  <a:pt x="2556330" y="0"/>
                </a:lnTo>
                <a:lnTo>
                  <a:pt x="2556330" y="1210383"/>
                </a:lnTo>
                <a:lnTo>
                  <a:pt x="0" y="1210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7172" y="145647"/>
            <a:ext cx="2531734" cy="1527505"/>
          </a:xfrm>
          <a:custGeom>
            <a:avLst/>
            <a:gdLst/>
            <a:ahLst/>
            <a:cxnLst/>
            <a:rect r="r" b="b" t="t" l="l"/>
            <a:pathLst>
              <a:path h="1527505" w="2531734">
                <a:moveTo>
                  <a:pt x="0" y="0"/>
                </a:moveTo>
                <a:lnTo>
                  <a:pt x="2531734" y="0"/>
                </a:lnTo>
                <a:lnTo>
                  <a:pt x="2531734" y="1527505"/>
                </a:lnTo>
                <a:lnTo>
                  <a:pt x="0" y="1527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1962898"/>
            <a:ext cx="18288000" cy="8324102"/>
          </a:xfrm>
          <a:custGeom>
            <a:avLst/>
            <a:gdLst/>
            <a:ahLst/>
            <a:cxnLst/>
            <a:rect r="r" b="b" t="t" l="l"/>
            <a:pathLst>
              <a:path h="8324102" w="18288000">
                <a:moveTo>
                  <a:pt x="0" y="0"/>
                </a:moveTo>
                <a:lnTo>
                  <a:pt x="18288000" y="0"/>
                </a:lnTo>
                <a:lnTo>
                  <a:pt x="18288000" y="8324102"/>
                </a:lnTo>
                <a:lnTo>
                  <a:pt x="0" y="83241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0096" r="0" b="-4171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6211577"/>
            <a:ext cx="3840936" cy="665875"/>
            <a:chOff x="0" y="0"/>
            <a:chExt cx="1011605" cy="1753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1605" cy="175374"/>
            </a:xfrm>
            <a:custGeom>
              <a:avLst/>
              <a:gdLst/>
              <a:ahLst/>
              <a:cxnLst/>
              <a:rect r="r" b="b" t="t" l="l"/>
              <a:pathLst>
                <a:path h="175374" w="1011605">
                  <a:moveTo>
                    <a:pt x="0" y="0"/>
                  </a:moveTo>
                  <a:lnTo>
                    <a:pt x="1011605" y="0"/>
                  </a:lnTo>
                  <a:lnTo>
                    <a:pt x="1011605" y="175374"/>
                  </a:lnTo>
                  <a:lnTo>
                    <a:pt x="0" y="175374"/>
                  </a:lnTo>
                  <a:close/>
                </a:path>
              </a:pathLst>
            </a:custGeom>
            <a:solidFill>
              <a:srgbClr val="5A5BC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1605" cy="2134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499"/>
                </a:lnSpc>
              </a:pPr>
              <a:r>
                <a:rPr lang="en-US" sz="2499" u="sng">
                  <a:solidFill>
                    <a:srgbClr val="FFFFFF"/>
                  </a:solidFill>
                  <a:latin typeface="Dekko"/>
                  <a:ea typeface="Dekko"/>
                  <a:cs typeface="Dekko"/>
                  <a:sym typeface="Dekko"/>
                </a:rPr>
                <a:t>TARGETED FUNCTIONALITIES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589006" y="533026"/>
            <a:ext cx="11109988" cy="864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7"/>
              </a:lnSpc>
              <a:spcBef>
                <a:spcPct val="0"/>
              </a:spcBef>
            </a:pPr>
            <a:r>
              <a:rPr lang="en-US" b="true" sz="4983" u="sng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TECHNICAL  APPROACH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161" y="116855"/>
            <a:ext cx="1768422" cy="1460082"/>
          </a:xfrm>
          <a:custGeom>
            <a:avLst/>
            <a:gdLst/>
            <a:ahLst/>
            <a:cxnLst/>
            <a:rect r="r" b="b" t="t" l="l"/>
            <a:pathLst>
              <a:path h="1460082" w="1768422">
                <a:moveTo>
                  <a:pt x="0" y="0"/>
                </a:moveTo>
                <a:lnTo>
                  <a:pt x="1768423" y="0"/>
                </a:lnTo>
                <a:lnTo>
                  <a:pt x="1768423" y="1460082"/>
                </a:lnTo>
                <a:lnTo>
                  <a:pt x="0" y="146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818799"/>
            <a:chOff x="0" y="0"/>
            <a:chExt cx="4816602" cy="479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602" cy="479044"/>
            </a:xfrm>
            <a:custGeom>
              <a:avLst/>
              <a:gdLst/>
              <a:ahLst/>
              <a:cxnLst/>
              <a:rect r="r" b="b" t="t" l="l"/>
              <a:pathLst>
                <a:path h="479044" w="4816602">
                  <a:moveTo>
                    <a:pt x="4816602" y="0"/>
                  </a:moveTo>
                  <a:lnTo>
                    <a:pt x="4816602" y="479044"/>
                  </a:lnTo>
                  <a:lnTo>
                    <a:pt x="0" y="47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4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602" cy="51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335896" y="314107"/>
            <a:ext cx="2556330" cy="1210383"/>
          </a:xfrm>
          <a:custGeom>
            <a:avLst/>
            <a:gdLst/>
            <a:ahLst/>
            <a:cxnLst/>
            <a:rect r="r" b="b" t="t" l="l"/>
            <a:pathLst>
              <a:path h="1210383" w="2556330">
                <a:moveTo>
                  <a:pt x="0" y="0"/>
                </a:moveTo>
                <a:lnTo>
                  <a:pt x="2556329" y="0"/>
                </a:lnTo>
                <a:lnTo>
                  <a:pt x="2556329" y="1210383"/>
                </a:lnTo>
                <a:lnTo>
                  <a:pt x="0" y="1210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94056" y="2007238"/>
            <a:ext cx="3983754" cy="4919917"/>
            <a:chOff x="0" y="0"/>
            <a:chExt cx="1049219" cy="12957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9219" cy="1295781"/>
            </a:xfrm>
            <a:custGeom>
              <a:avLst/>
              <a:gdLst/>
              <a:ahLst/>
              <a:cxnLst/>
              <a:rect r="r" b="b" t="t" l="l"/>
              <a:pathLst>
                <a:path h="1295781" w="1049219">
                  <a:moveTo>
                    <a:pt x="0" y="0"/>
                  </a:moveTo>
                  <a:lnTo>
                    <a:pt x="1049219" y="0"/>
                  </a:lnTo>
                  <a:lnTo>
                    <a:pt x="1049219" y="1295781"/>
                  </a:lnTo>
                  <a:lnTo>
                    <a:pt x="0" y="1295781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49219" cy="1333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09369" y="2744192"/>
            <a:ext cx="5128911" cy="3235026"/>
            <a:chOff x="0" y="0"/>
            <a:chExt cx="1350824" cy="852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0824" cy="852023"/>
            </a:xfrm>
            <a:custGeom>
              <a:avLst/>
              <a:gdLst/>
              <a:ahLst/>
              <a:cxnLst/>
              <a:rect r="r" b="b" t="t" l="l"/>
              <a:pathLst>
                <a:path h="852023" w="1350824">
                  <a:moveTo>
                    <a:pt x="0" y="0"/>
                  </a:moveTo>
                  <a:lnTo>
                    <a:pt x="1350824" y="0"/>
                  </a:lnTo>
                  <a:lnTo>
                    <a:pt x="1350824" y="852023"/>
                  </a:lnTo>
                  <a:lnTo>
                    <a:pt x="0" y="852023"/>
                  </a:lnTo>
                  <a:close/>
                </a:path>
              </a:pathLst>
            </a:custGeom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50824" cy="890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06894" y="2538187"/>
            <a:ext cx="3261415" cy="4876062"/>
            <a:chOff x="0" y="0"/>
            <a:chExt cx="858974" cy="12842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8974" cy="1284230"/>
            </a:xfrm>
            <a:custGeom>
              <a:avLst/>
              <a:gdLst/>
              <a:ahLst/>
              <a:cxnLst/>
              <a:rect r="r" b="b" t="t" l="l"/>
              <a:pathLst>
                <a:path h="1284230" w="858974">
                  <a:moveTo>
                    <a:pt x="0" y="0"/>
                  </a:moveTo>
                  <a:lnTo>
                    <a:pt x="858974" y="0"/>
                  </a:lnTo>
                  <a:lnTo>
                    <a:pt x="858974" y="1284230"/>
                  </a:lnTo>
                  <a:lnTo>
                    <a:pt x="0" y="12842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58974" cy="13032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303562" indent="-151781" lvl="1">
                <a:lnSpc>
                  <a:spcPts val="196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406" strike="noStrike" u="none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Noise Suppression:</a:t>
              </a:r>
              <a:r>
                <a:rPr lang="en-US" sz="1406" strike="noStrike" u="none">
                  <a:solidFill>
                    <a:srgbClr val="1800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Handles stationary + impulsive noise (gunshots,explosions,vehicles)</a:t>
              </a:r>
            </a:p>
            <a:p>
              <a:pPr algn="l" marL="303562" indent="-151781" lvl="1">
                <a:lnSpc>
                  <a:spcPts val="196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406" strike="noStrike" u="none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Target Performance:</a:t>
              </a:r>
              <a:r>
                <a:rPr lang="en-US" sz="1406" strike="noStrike" u="none">
                  <a:solidFill>
                    <a:srgbClr val="1800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SNR&gt;15dB,  STOI&gt;0.85, PESQ&gt;2.5.</a:t>
              </a:r>
            </a:p>
            <a:p>
              <a:pPr algn="l" marL="303562" indent="-151781" lvl="1">
                <a:lnSpc>
                  <a:spcPts val="196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406" strike="noStrike" u="none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Low latency:</a:t>
              </a:r>
              <a:r>
                <a:rPr lang="en-US" sz="1406" strike="noStrike" u="none">
                  <a:solidFill>
                    <a:srgbClr val="1800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50 ms (real time communication).</a:t>
              </a:r>
            </a:p>
            <a:p>
              <a:pPr algn="l" marL="303562" indent="-151781" lvl="1">
                <a:lnSpc>
                  <a:spcPts val="196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406" strike="noStrike" u="none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Model:</a:t>
              </a:r>
              <a:r>
                <a:rPr lang="en-US" sz="1406" strike="noStrike" u="none">
                  <a:solidFill>
                    <a:srgbClr val="1800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CRN/DCCRN/Conv-TasNet/Transformer+LMS/NLMS(hybrid).</a:t>
              </a:r>
            </a:p>
            <a:p>
              <a:pPr algn="l" marL="303562" indent="-151781" lvl="1">
                <a:lnSpc>
                  <a:spcPts val="1968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406" strike="noStrike" u="none">
                  <a:solidFill>
                    <a:srgbClr val="1800A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Features: </a:t>
              </a:r>
              <a:r>
                <a:rPr lang="en-US" sz="1406" strike="noStrike" u="none">
                  <a:solidFill>
                    <a:srgbClr val="1800AD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Time-frequency +complex domain,phase preservation,multi-band analysis.</a:t>
              </a:r>
            </a:p>
            <a:p>
              <a:pPr algn="l">
                <a:lnSpc>
                  <a:spcPts val="196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973108" y="2285512"/>
            <a:ext cx="4349502" cy="709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b="true" sz="2056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Performance</a:t>
            </a:r>
          </a:p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056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Latency Metrics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1122677" y="7471095"/>
            <a:ext cx="7823166" cy="35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1"/>
              </a:lnSpc>
              <a:spcBef>
                <a:spcPct val="0"/>
              </a:spcBef>
            </a:pPr>
            <a:r>
              <a:rPr lang="en-US" b="true" sz="2043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Risk &amp; Insurance Feasibility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211161" y="7414250"/>
            <a:ext cx="8176041" cy="2466624"/>
            <a:chOff x="0" y="0"/>
            <a:chExt cx="2153361" cy="6496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53361" cy="649646"/>
            </a:xfrm>
            <a:custGeom>
              <a:avLst/>
              <a:gdLst/>
              <a:ahLst/>
              <a:cxnLst/>
              <a:rect r="r" b="b" t="t" l="l"/>
              <a:pathLst>
                <a:path h="649646" w="2153361">
                  <a:moveTo>
                    <a:pt x="0" y="0"/>
                  </a:moveTo>
                  <a:lnTo>
                    <a:pt x="2153361" y="0"/>
                  </a:lnTo>
                  <a:lnTo>
                    <a:pt x="2153361" y="649646"/>
                  </a:lnTo>
                  <a:lnTo>
                    <a:pt x="0" y="649646"/>
                  </a:lnTo>
                  <a:close/>
                </a:path>
              </a:pathLst>
            </a:custGeom>
            <a:solidFill>
              <a:srgbClr val="5CE1E6">
                <a:alpha val="2078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153361" cy="678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400"/>
                </a:lnSpc>
              </a:pPr>
            </a:p>
            <a:p>
              <a:pPr algn="l">
                <a:lnSpc>
                  <a:spcPts val="98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982651" y="7904955"/>
            <a:ext cx="7631410" cy="215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4822" indent="-187411" lvl="1">
              <a:lnSpc>
                <a:spcPts val="2430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Hardware :  </a:t>
            </a:r>
            <a:r>
              <a:rPr lang="en-US" sz="1736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NVIDIA Jetson Orin/AI SoC/DSP(edge deployment ).</a:t>
            </a:r>
          </a:p>
          <a:p>
            <a:pPr algn="l" marL="374822" indent="-187411" lvl="1">
              <a:lnSpc>
                <a:spcPts val="2430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Software:</a:t>
            </a:r>
            <a:r>
              <a:rPr lang="en-US" sz="1736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PyTorch,ONNX,TensorRT,Librosa,NumPy,MATLAB.</a:t>
            </a:r>
          </a:p>
          <a:p>
            <a:pPr algn="l" marL="374822" indent="-187411" lvl="1">
              <a:lnSpc>
                <a:spcPts val="2430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Integration:</a:t>
            </a:r>
            <a:r>
              <a:rPr lang="en-US" sz="1736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 Microphones (primary+references),hedset/communication unit,audio codec.</a:t>
            </a:r>
          </a:p>
          <a:p>
            <a:pPr algn="l" marL="374822" indent="-187411" lvl="1">
              <a:lnSpc>
                <a:spcPts val="2430"/>
              </a:lnSpc>
              <a:buFont typeface="Arial"/>
              <a:buChar char="•"/>
            </a:pPr>
            <a:r>
              <a:rPr lang="en-US" b="true" sz="1736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Feasibility:</a:t>
            </a:r>
            <a:r>
              <a:rPr lang="en-US" sz="1736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 High-standard hardware and open-source tools available .</a:t>
            </a:r>
          </a:p>
          <a:p>
            <a:pPr algn="l">
              <a:lnSpc>
                <a:spcPts val="2710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522617" y="7771556"/>
            <a:ext cx="7763828" cy="205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  <a:spcBef>
                <a:spcPct val="0"/>
              </a:spcBef>
            </a:pPr>
          </a:p>
          <a:p>
            <a:pPr algn="l" marL="368331" indent="-184165" lvl="1">
              <a:lnSpc>
                <a:spcPts val="2388"/>
              </a:lnSpc>
              <a:spcBef>
                <a:spcPct val="0"/>
              </a:spcBef>
              <a:buFont typeface="Arial"/>
              <a:buChar char="•"/>
            </a:pPr>
            <a:r>
              <a:rPr lang="en-US" sz="1706" strike="noStrike" u="none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Technical Risk:  Model may underperform on unseen noise types.</a:t>
            </a:r>
          </a:p>
          <a:p>
            <a:pPr algn="l" marL="368331" indent="-184165" lvl="1">
              <a:lnSpc>
                <a:spcPts val="2388"/>
              </a:lnSpc>
              <a:spcBef>
                <a:spcPct val="0"/>
              </a:spcBef>
              <a:buFont typeface="Arial"/>
              <a:buChar char="•"/>
            </a:pPr>
            <a:r>
              <a:rPr lang="en-US" sz="1706" strike="noStrike" u="none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Hardware risk: Edge device limitations (quantization,pruning,TensorRT).</a:t>
            </a:r>
          </a:p>
          <a:p>
            <a:pPr algn="l" marL="368331" indent="-184165" lvl="1">
              <a:lnSpc>
                <a:spcPts val="2388"/>
              </a:lnSpc>
              <a:spcBef>
                <a:spcPct val="0"/>
              </a:spcBef>
              <a:buFont typeface="Arial"/>
              <a:buChar char="•"/>
            </a:pPr>
            <a:r>
              <a:rPr lang="en-US" sz="1706" strike="noStrike" u="none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Operation Risk : Microphone/communication integration and field conditions .</a:t>
            </a:r>
          </a:p>
          <a:p>
            <a:pPr algn="l" marL="368331" indent="-184165" lvl="1">
              <a:lnSpc>
                <a:spcPts val="2388"/>
              </a:lnSpc>
              <a:spcBef>
                <a:spcPct val="0"/>
              </a:spcBef>
              <a:buFont typeface="Arial"/>
              <a:buChar char="•"/>
            </a:pPr>
            <a:r>
              <a:rPr lang="en-US" sz="1706" strike="noStrike" u="none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Assurance: Redundancy(adaptive filter), fail-safe bypass, continuous monitoring.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02096" y="7502371"/>
            <a:ext cx="6477778" cy="32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"/>
              </a:lnSpc>
              <a:spcBef>
                <a:spcPct val="0"/>
              </a:spcBef>
            </a:pPr>
            <a:r>
              <a:rPr lang="en-US" b="true" sz="1914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OEM Integration &amp; Operational Feasibility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57172" y="145647"/>
            <a:ext cx="2531734" cy="1527505"/>
          </a:xfrm>
          <a:custGeom>
            <a:avLst/>
            <a:gdLst/>
            <a:ahLst/>
            <a:cxnLst/>
            <a:rect r="r" b="b" t="t" l="l"/>
            <a:pathLst>
              <a:path h="1527505" w="2531734">
                <a:moveTo>
                  <a:pt x="0" y="0"/>
                </a:moveTo>
                <a:lnTo>
                  <a:pt x="2531734" y="0"/>
                </a:lnTo>
                <a:lnTo>
                  <a:pt x="2531734" y="1527505"/>
                </a:lnTo>
                <a:lnTo>
                  <a:pt x="0" y="1527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8596037" y="1938444"/>
            <a:ext cx="4007272" cy="5097116"/>
            <a:chOff x="0" y="0"/>
            <a:chExt cx="1055413" cy="13424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5413" cy="1342450"/>
            </a:xfrm>
            <a:custGeom>
              <a:avLst/>
              <a:gdLst/>
              <a:ahLst/>
              <a:cxnLst/>
              <a:rect r="r" b="b" t="t" l="l"/>
              <a:pathLst>
                <a:path h="1342450" w="1055413">
                  <a:moveTo>
                    <a:pt x="0" y="0"/>
                  </a:moveTo>
                  <a:lnTo>
                    <a:pt x="1055413" y="0"/>
                  </a:lnTo>
                  <a:lnTo>
                    <a:pt x="1055413" y="1342450"/>
                  </a:lnTo>
                  <a:lnTo>
                    <a:pt x="0" y="1342450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55413" cy="137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80"/>
                </a:lnSpc>
              </a:pPr>
            </a:p>
            <a:p>
              <a:pPr algn="l">
                <a:lnSpc>
                  <a:spcPts val="238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341317" y="2046850"/>
            <a:ext cx="3945128" cy="4880305"/>
            <a:chOff x="0" y="0"/>
            <a:chExt cx="1039046" cy="12853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39046" cy="1285348"/>
            </a:xfrm>
            <a:custGeom>
              <a:avLst/>
              <a:gdLst/>
              <a:ahLst/>
              <a:cxnLst/>
              <a:rect r="r" b="b" t="t" l="l"/>
              <a:pathLst>
                <a:path h="1285348" w="1039046">
                  <a:moveTo>
                    <a:pt x="0" y="0"/>
                  </a:moveTo>
                  <a:lnTo>
                    <a:pt x="1039046" y="0"/>
                  </a:lnTo>
                  <a:lnTo>
                    <a:pt x="1039046" y="1285348"/>
                  </a:lnTo>
                  <a:lnTo>
                    <a:pt x="0" y="1285348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39046" cy="1323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9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702096" y="7442566"/>
            <a:ext cx="9080944" cy="2482730"/>
            <a:chOff x="0" y="0"/>
            <a:chExt cx="2391689" cy="6538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91689" cy="653888"/>
            </a:xfrm>
            <a:custGeom>
              <a:avLst/>
              <a:gdLst/>
              <a:ahLst/>
              <a:cxnLst/>
              <a:rect r="r" b="b" t="t" l="l"/>
              <a:pathLst>
                <a:path h="653888" w="2391689">
                  <a:moveTo>
                    <a:pt x="0" y="0"/>
                  </a:moveTo>
                  <a:lnTo>
                    <a:pt x="2391689" y="0"/>
                  </a:lnTo>
                  <a:lnTo>
                    <a:pt x="2391689" y="653888"/>
                  </a:lnTo>
                  <a:lnTo>
                    <a:pt x="0" y="653888"/>
                  </a:lnTo>
                  <a:close/>
                </a:path>
              </a:pathLst>
            </a:custGeom>
            <a:solidFill>
              <a:srgbClr val="5CE1E6">
                <a:alpha val="20784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391689" cy="682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80"/>
                </a:lnSpc>
              </a:pPr>
            </a:p>
            <a:p>
              <a:pPr algn="l">
                <a:lnSpc>
                  <a:spcPts val="238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8856010" y="2376041"/>
            <a:ext cx="3487327" cy="427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b="true" sz="2220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Commercial &amp;</a:t>
            </a:r>
          </a:p>
          <a:p>
            <a:pPr algn="ctr">
              <a:lnSpc>
                <a:spcPts val="3108"/>
              </a:lnSpc>
            </a:pPr>
            <a:r>
              <a:rPr lang="en-US" b="true" sz="2220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oppurtunities</a:t>
            </a:r>
          </a:p>
          <a:p>
            <a:pPr algn="l">
              <a:lnSpc>
                <a:spcPts val="2603"/>
              </a:lnSpc>
            </a:pPr>
          </a:p>
          <a:p>
            <a:pPr algn="l" marL="322188" indent="-161094" lvl="1">
              <a:lnSpc>
                <a:spcPts val="2089"/>
              </a:lnSpc>
              <a:buFont typeface="Arial"/>
              <a:buChar char="•"/>
            </a:pPr>
            <a:r>
              <a:rPr lang="en-US" sz="1492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Indian defence modernisation(Atmanirbhar bharat).</a:t>
            </a:r>
          </a:p>
          <a:p>
            <a:pPr algn="l" marL="322188" indent="-161094" lvl="1">
              <a:lnSpc>
                <a:spcPts val="2089"/>
              </a:lnSpc>
              <a:buFont typeface="Arial"/>
              <a:buChar char="•"/>
            </a:pPr>
            <a:r>
              <a:rPr lang="en-US" sz="1492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Growing adoption of AI/edge devices in defence </a:t>
            </a:r>
          </a:p>
          <a:p>
            <a:pPr algn="l" marL="322188" indent="-161094" lvl="1">
              <a:lnSpc>
                <a:spcPts val="2089"/>
              </a:lnSpc>
              <a:buFont typeface="Arial"/>
              <a:buChar char="•"/>
            </a:pPr>
            <a:r>
              <a:rPr lang="en-US" sz="1492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Potential for collabrations with DRDO,BEL,HAL.,etc.</a:t>
            </a:r>
          </a:p>
          <a:p>
            <a:pPr algn="l" marL="322188" indent="-161094" lvl="1">
              <a:lnSpc>
                <a:spcPts val="2089"/>
              </a:lnSpc>
              <a:buFont typeface="Arial"/>
              <a:buChar char="•"/>
            </a:pPr>
            <a:r>
              <a:rPr lang="en-US" sz="1492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Scope for wearables,UAVs,and industrial communtcation systems.</a:t>
            </a:r>
          </a:p>
          <a:p>
            <a:pPr algn="l">
              <a:lnSpc>
                <a:spcPts val="2158"/>
              </a:lnSpc>
            </a:pPr>
          </a:p>
          <a:p>
            <a:pPr algn="l">
              <a:lnSpc>
                <a:spcPts val="2158"/>
              </a:lnSpc>
            </a:pPr>
          </a:p>
        </p:txBody>
      </p:sp>
      <p:graphicFrame>
        <p:nvGraphicFramePr>
          <p:cNvPr name="Object 35" id="35"/>
          <p:cNvGraphicFramePr/>
          <p:nvPr/>
        </p:nvGraphicFramePr>
        <p:xfrm>
          <a:off x="13114398" y="3095010"/>
          <a:ext cx="7543800" cy="5029200"/>
        </p:xfrm>
        <a:graphic>
          <a:graphicData uri="http://schemas.openxmlformats.org/presentationml/2006/ole">
            <p:oleObj imgW="9042400" imgH="65278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6" id="36"/>
          <p:cNvSpPr txBox="true"/>
          <p:nvPr/>
        </p:nvSpPr>
        <p:spPr>
          <a:xfrm rot="0">
            <a:off x="4808666" y="485765"/>
            <a:ext cx="9020461" cy="74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0"/>
              </a:lnSpc>
              <a:spcBef>
                <a:spcPct val="0"/>
              </a:spcBef>
            </a:pPr>
            <a:r>
              <a:rPr lang="en-US" b="true" sz="4321" u="sng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FEASIBILITY AND VIABILITY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16510" y="1978663"/>
            <a:ext cx="3647073" cy="50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9"/>
              </a:lnSpc>
              <a:spcBef>
                <a:spcPct val="0"/>
              </a:spcBef>
            </a:pPr>
          </a:p>
          <a:p>
            <a:pPr algn="ctr">
              <a:lnSpc>
                <a:spcPts val="2867"/>
              </a:lnSpc>
              <a:spcBef>
                <a:spcPct val="0"/>
              </a:spcBef>
            </a:pPr>
            <a:r>
              <a:rPr lang="en-US" b="true" sz="2048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Commercial &amp; Market Viability</a:t>
            </a:r>
          </a:p>
          <a:p>
            <a:pPr algn="l" marL="320004" indent="-160002" lvl="1">
              <a:lnSpc>
                <a:spcPts val="20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82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Growing Demand:  </a:t>
            </a:r>
            <a:r>
              <a:rPr lang="en-US" sz="1482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Defence,Aerospace,police,paramilitary, industrial sectors.</a:t>
            </a:r>
          </a:p>
          <a:p>
            <a:pPr algn="l" marL="311115" indent="-155557" lvl="1">
              <a:lnSpc>
                <a:spcPts val="20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4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size : </a:t>
            </a:r>
            <a:r>
              <a:rPr lang="en-US" sz="14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Global market for speech enhancement and ANC is expected to grow from approx $2.5B (2024) to $6.8B (2030).</a:t>
            </a:r>
          </a:p>
          <a:p>
            <a:pPr algn="l" marL="311115" indent="-155557" lvl="1">
              <a:lnSpc>
                <a:spcPts val="201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4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Applications:</a:t>
            </a:r>
            <a:r>
              <a:rPr lang="en-US" sz="14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 Headsets,vehicle intercom,aircraft,ground forces,disaster response.</a:t>
            </a:r>
          </a:p>
          <a:p>
            <a:pPr algn="l" marL="311115" indent="-155557" lvl="1">
              <a:lnSpc>
                <a:spcPts val="2017"/>
              </a:lnSpc>
              <a:buFont typeface="Arial"/>
              <a:buChar char="•"/>
            </a:pPr>
            <a:r>
              <a:rPr lang="en-US" b="true" sz="144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Competitive Advantage : </a:t>
            </a:r>
            <a:r>
              <a:rPr lang="en-US" sz="14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AI+addaptive filtering,low cost ,high performance.</a:t>
            </a:r>
          </a:p>
          <a:p>
            <a:pPr algn="l">
              <a:lnSpc>
                <a:spcPts val="2017"/>
              </a:lnSpc>
            </a:pPr>
          </a:p>
          <a:p>
            <a:pPr algn="l">
              <a:lnSpc>
                <a:spcPts val="2712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3315061" y="1978663"/>
            <a:ext cx="4113875" cy="925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Bill </a:t>
            </a:r>
            <a:r>
              <a:rPr lang="en-US" b="true" sz="1799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 Materials (BOM) &amp; Cost 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Estimation for the Prototype Solution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3014169" y="1987783"/>
            <a:ext cx="4768872" cy="4998438"/>
            <a:chOff x="0" y="0"/>
            <a:chExt cx="1255999" cy="131646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5999" cy="1316461"/>
            </a:xfrm>
            <a:custGeom>
              <a:avLst/>
              <a:gdLst/>
              <a:ahLst/>
              <a:cxnLst/>
              <a:rect r="r" b="b" t="t" l="l"/>
              <a:pathLst>
                <a:path h="1316461" w="1255999">
                  <a:moveTo>
                    <a:pt x="0" y="0"/>
                  </a:moveTo>
                  <a:lnTo>
                    <a:pt x="1255999" y="0"/>
                  </a:lnTo>
                  <a:lnTo>
                    <a:pt x="1255999" y="1316461"/>
                  </a:lnTo>
                  <a:lnTo>
                    <a:pt x="0" y="1316461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255999" cy="1345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80"/>
                </a:lnSpc>
              </a:pPr>
            </a:p>
            <a:p>
              <a:pPr algn="l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161" y="116855"/>
            <a:ext cx="1768422" cy="1460082"/>
          </a:xfrm>
          <a:custGeom>
            <a:avLst/>
            <a:gdLst/>
            <a:ahLst/>
            <a:cxnLst/>
            <a:rect r="r" b="b" t="t" l="l"/>
            <a:pathLst>
              <a:path h="1460082" w="1768422">
                <a:moveTo>
                  <a:pt x="0" y="0"/>
                </a:moveTo>
                <a:lnTo>
                  <a:pt x="1768423" y="0"/>
                </a:lnTo>
                <a:lnTo>
                  <a:pt x="1768423" y="1460082"/>
                </a:lnTo>
                <a:lnTo>
                  <a:pt x="0" y="146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818799"/>
            <a:chOff x="0" y="0"/>
            <a:chExt cx="4816602" cy="479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602" cy="479044"/>
            </a:xfrm>
            <a:custGeom>
              <a:avLst/>
              <a:gdLst/>
              <a:ahLst/>
              <a:cxnLst/>
              <a:rect r="r" b="b" t="t" l="l"/>
              <a:pathLst>
                <a:path h="479044" w="4816602">
                  <a:moveTo>
                    <a:pt x="4816602" y="0"/>
                  </a:moveTo>
                  <a:lnTo>
                    <a:pt x="4816602" y="479044"/>
                  </a:lnTo>
                  <a:lnTo>
                    <a:pt x="0" y="47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4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602" cy="51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89006" y="330266"/>
            <a:ext cx="11109988" cy="89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  <a:spcBef>
                <a:spcPct val="0"/>
              </a:spcBef>
            </a:pPr>
            <a:r>
              <a:rPr lang="en-US" b="true" sz="5183" u="sng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IMPACT AND BENEFITS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99760" y="186657"/>
            <a:ext cx="2556330" cy="1210383"/>
          </a:xfrm>
          <a:custGeom>
            <a:avLst/>
            <a:gdLst/>
            <a:ahLst/>
            <a:cxnLst/>
            <a:rect r="r" b="b" t="t" l="l"/>
            <a:pathLst>
              <a:path h="1210383" w="2556330">
                <a:moveTo>
                  <a:pt x="0" y="0"/>
                </a:moveTo>
                <a:lnTo>
                  <a:pt x="2556330" y="0"/>
                </a:lnTo>
                <a:lnTo>
                  <a:pt x="2556330" y="1210383"/>
                </a:lnTo>
                <a:lnTo>
                  <a:pt x="0" y="1210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63561" y="7765693"/>
            <a:ext cx="17660274" cy="2230114"/>
            <a:chOff x="0" y="0"/>
            <a:chExt cx="4651265" cy="587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51265" cy="587355"/>
            </a:xfrm>
            <a:custGeom>
              <a:avLst/>
              <a:gdLst/>
              <a:ahLst/>
              <a:cxnLst/>
              <a:rect r="r" b="b" t="t" l="l"/>
              <a:pathLst>
                <a:path h="587355" w="4651265">
                  <a:moveTo>
                    <a:pt x="0" y="0"/>
                  </a:moveTo>
                  <a:lnTo>
                    <a:pt x="4651265" y="0"/>
                  </a:lnTo>
                  <a:lnTo>
                    <a:pt x="4651265" y="587355"/>
                  </a:lnTo>
                  <a:lnTo>
                    <a:pt x="0" y="587355"/>
                  </a:lnTo>
                  <a:close/>
                </a:path>
              </a:pathLst>
            </a:custGeom>
            <a:solidFill>
              <a:srgbClr val="7ED957">
                <a:alpha val="2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51265" cy="6254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3561" y="2162422"/>
            <a:ext cx="8780439" cy="5407688"/>
            <a:chOff x="0" y="0"/>
            <a:chExt cx="2312544" cy="1424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12544" cy="1424247"/>
            </a:xfrm>
            <a:custGeom>
              <a:avLst/>
              <a:gdLst/>
              <a:ahLst/>
              <a:cxnLst/>
              <a:rect r="r" b="b" t="t" l="l"/>
              <a:pathLst>
                <a:path h="1424247" w="2312544">
                  <a:moveTo>
                    <a:pt x="0" y="0"/>
                  </a:moveTo>
                  <a:lnTo>
                    <a:pt x="2312544" y="0"/>
                  </a:lnTo>
                  <a:lnTo>
                    <a:pt x="2312544" y="1424247"/>
                  </a:lnTo>
                  <a:lnTo>
                    <a:pt x="0" y="1424247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12544" cy="1462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61829" y="2162422"/>
            <a:ext cx="8694261" cy="5407688"/>
            <a:chOff x="0" y="0"/>
            <a:chExt cx="2289847" cy="14242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9847" cy="1424247"/>
            </a:xfrm>
            <a:custGeom>
              <a:avLst/>
              <a:gdLst/>
              <a:ahLst/>
              <a:cxnLst/>
              <a:rect r="r" b="b" t="t" l="l"/>
              <a:pathLst>
                <a:path h="1424247" w="2289847">
                  <a:moveTo>
                    <a:pt x="0" y="0"/>
                  </a:moveTo>
                  <a:lnTo>
                    <a:pt x="2289847" y="0"/>
                  </a:lnTo>
                  <a:lnTo>
                    <a:pt x="2289847" y="1424247"/>
                  </a:lnTo>
                  <a:lnTo>
                    <a:pt x="0" y="1424247"/>
                  </a:lnTo>
                  <a:close/>
                </a:path>
              </a:pathLst>
            </a:custGeom>
            <a:solidFill>
              <a:srgbClr val="5CE1E6">
                <a:alpha val="20784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89847" cy="1462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47372" y="2228335"/>
            <a:ext cx="8122909" cy="567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  <a:spcBef>
                <a:spcPct val="0"/>
              </a:spcBef>
            </a:pPr>
            <a:r>
              <a:rPr lang="en-US" b="true" sz="1993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National Security &amp; Strategic Defence Benefits</a:t>
            </a:r>
          </a:p>
          <a:p>
            <a:pPr algn="l">
              <a:lnSpc>
                <a:spcPts val="2651"/>
              </a:lnSpc>
              <a:spcBef>
                <a:spcPct val="0"/>
              </a:spcBef>
            </a:pPr>
          </a:p>
          <a:p>
            <a:pPr algn="l" marL="408895" indent="-204447" lvl="1">
              <a:lnSpc>
                <a:spcPts val="265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3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Mission-Critical Reliability for Armed Forces</a:t>
            </a:r>
            <a:r>
              <a:rPr lang="en-US" sz="1893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Enables reliable, highly intelligible communication for military personnel operating in extreme defence, aerospace, and high-noise environments affected by heavy gunfire, artillery fire, and vehicle engines.</a:t>
            </a:r>
          </a:p>
          <a:p>
            <a:pPr algn="l">
              <a:lnSpc>
                <a:spcPts val="2651"/>
              </a:lnSpc>
              <a:spcBef>
                <a:spcPct val="0"/>
              </a:spcBef>
            </a:pPr>
          </a:p>
          <a:p>
            <a:pPr algn="l" marL="408895" indent="-204447" lvl="1">
              <a:lnSpc>
                <a:spcPts val="265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3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Indigenous Defence Innovation</a:t>
            </a:r>
            <a:r>
              <a:rPr lang="en-US" sz="1893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Replaces imported audio processing setups with local, domestic hardware and native neuromorphic software, building crucial indigenous intellectual property for India's defence sector.</a:t>
            </a:r>
          </a:p>
          <a:p>
            <a:pPr algn="l">
              <a:lnSpc>
                <a:spcPts val="2651"/>
              </a:lnSpc>
              <a:spcBef>
                <a:spcPct val="0"/>
              </a:spcBef>
            </a:pPr>
          </a:p>
          <a:p>
            <a:pPr algn="l" marL="408895" indent="-204447" lvl="1">
              <a:lnSpc>
                <a:spcPts val="265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93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Tactical Edge Optimization</a:t>
            </a:r>
            <a:r>
              <a:rPr lang="en-US" sz="1893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Leverages lightweight edge hardware and optimization techniques like quantization and TensorRT conversion to meet strict operational latency and power constraints in the field.</a:t>
            </a:r>
          </a:p>
          <a:p>
            <a:pPr algn="l">
              <a:lnSpc>
                <a:spcPts val="2651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589285" y="1948169"/>
            <a:ext cx="7843061" cy="61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8"/>
              </a:lnSpc>
              <a:spcBef>
                <a:spcPct val="0"/>
              </a:spcBef>
            </a:pPr>
          </a:p>
          <a:p>
            <a:pPr algn="l">
              <a:lnSpc>
                <a:spcPts val="2998"/>
              </a:lnSpc>
              <a:spcBef>
                <a:spcPct val="0"/>
              </a:spcBef>
            </a:pPr>
            <a:r>
              <a:rPr lang="en-US" sz="21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   </a:t>
            </a:r>
            <a:r>
              <a:rPr lang="en-US" b="true" sz="2141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Socio-Economic &amp; Public Safety Impact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 marL="397665" indent="-198833" lvl="1">
              <a:lnSpc>
                <a:spcPts val="25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Enhancing Public Safety Operations</a:t>
            </a:r>
            <a:r>
              <a:rPr lang="en-US" sz="18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Directly supports high-noise emergency and security operations by filtering out chaotic acoustic disturbances like emergency sirens, heavy wind, and industrial chaos.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 marL="397665" indent="-198833" lvl="1">
              <a:lnSpc>
                <a:spcPts val="25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Low-Power and Sustainable Hardware</a:t>
            </a:r>
            <a:r>
              <a:rPr lang="en-US" sz="18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Utilizes efficient, low-power neuromorphic SNN cores and widely available hardware components to ensure extended operational periods for frontline personnel.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 marL="397665" indent="-198833" lvl="1">
              <a:lnSpc>
                <a:spcPts val="25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41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Advanced Acoustic Benchmarks</a:t>
            </a:r>
            <a:r>
              <a:rPr lang="en-US" sz="1841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Delivers exceptional audio enhancement performance targeting SNR &gt; 15 dB, STOI &gt; 0.85, and PESQ &gt; 2.5 to guarantee crystal-clear communications during critical missions.</a:t>
            </a: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  <a:p>
            <a:pPr algn="l">
              <a:lnSpc>
                <a:spcPts val="2578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57172" y="145647"/>
            <a:ext cx="2531734" cy="1527505"/>
          </a:xfrm>
          <a:custGeom>
            <a:avLst/>
            <a:gdLst/>
            <a:ahLst/>
            <a:cxnLst/>
            <a:rect r="r" b="b" t="t" l="l"/>
            <a:pathLst>
              <a:path h="1527505" w="2531734">
                <a:moveTo>
                  <a:pt x="0" y="0"/>
                </a:moveTo>
                <a:lnTo>
                  <a:pt x="2531734" y="0"/>
                </a:lnTo>
                <a:lnTo>
                  <a:pt x="2531734" y="1527505"/>
                </a:lnTo>
                <a:lnTo>
                  <a:pt x="0" y="1527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47372" y="7814442"/>
            <a:ext cx="17376463" cy="193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413" u="sng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Technological Integration &amp; End-User Efficacy</a:t>
            </a:r>
          </a:p>
          <a:p>
            <a:pPr algn="l">
              <a:lnSpc>
                <a:spcPts val="1979"/>
              </a:lnSpc>
            </a:pPr>
          </a:p>
          <a:p>
            <a:pPr algn="l" marL="305210" indent="-152605" lvl="1">
              <a:lnSpc>
                <a:spcPts val="1979"/>
              </a:lnSpc>
              <a:buFont typeface="Arial"/>
              <a:buChar char="•"/>
            </a:pPr>
            <a:r>
              <a:rPr lang="en-US" b="true" sz="1413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Hybrid Multi-Modal Sensing</a:t>
            </a:r>
            <a:r>
              <a:rPr lang="en-US" sz="1413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Integrates a 4-mic MEMS array and cranial bone-conduction jaw sensors to fuse pristine input data even under severe dynamic interference.</a:t>
            </a:r>
          </a:p>
          <a:p>
            <a:pPr algn="l" marL="305210" indent="-152605" lvl="1">
              <a:lnSpc>
                <a:spcPts val="1979"/>
              </a:lnSpc>
              <a:buFont typeface="Arial"/>
              <a:buChar char="•"/>
            </a:pPr>
            <a:r>
              <a:rPr lang="en-US" b="true" sz="1413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Context-Aware Adaptability</a:t>
            </a:r>
            <a:r>
              <a:rPr lang="en-US" sz="1413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Utilizes Context-Aware Dynamic Profile Switching (CADS) to instantly adjust to changing environments—such as enclosed CQB, command posts, or urban sectors—in milliseconds.</a:t>
            </a:r>
          </a:p>
          <a:p>
            <a:pPr algn="l" marL="305210" indent="-152605" lvl="1">
              <a:lnSpc>
                <a:spcPts val="1979"/>
              </a:lnSpc>
              <a:buFont typeface="Arial"/>
              <a:buChar char="•"/>
            </a:pPr>
            <a:r>
              <a:rPr lang="en-US" b="true" sz="1413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Generative Speech Reconstruction</a:t>
            </a:r>
            <a:r>
              <a:rPr lang="en-US" sz="1413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: Employs an on-device contextual AI vocoder to rebuild missing speech phonemes and lost information resulting from sudden noise bursts or signal drops.</a:t>
            </a:r>
          </a:p>
          <a:p>
            <a:pPr algn="l">
              <a:lnSpc>
                <a:spcPts val="1979"/>
              </a:lnSpc>
              <a:spcBef>
                <a:spcPct val="0"/>
              </a:spcBef>
            </a:pPr>
          </a:p>
          <a:p>
            <a:pPr algn="l">
              <a:lnSpc>
                <a:spcPts val="19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161" y="116855"/>
            <a:ext cx="1768422" cy="1460082"/>
          </a:xfrm>
          <a:custGeom>
            <a:avLst/>
            <a:gdLst/>
            <a:ahLst/>
            <a:cxnLst/>
            <a:rect r="r" b="b" t="t" l="l"/>
            <a:pathLst>
              <a:path h="1460082" w="1768422">
                <a:moveTo>
                  <a:pt x="0" y="0"/>
                </a:moveTo>
                <a:lnTo>
                  <a:pt x="1768423" y="0"/>
                </a:lnTo>
                <a:lnTo>
                  <a:pt x="1768423" y="1460082"/>
                </a:lnTo>
                <a:lnTo>
                  <a:pt x="0" y="146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818799"/>
            <a:chOff x="0" y="0"/>
            <a:chExt cx="4816602" cy="4790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602" cy="479044"/>
            </a:xfrm>
            <a:custGeom>
              <a:avLst/>
              <a:gdLst/>
              <a:ahLst/>
              <a:cxnLst/>
              <a:rect r="r" b="b" t="t" l="l"/>
              <a:pathLst>
                <a:path h="479044" w="4816602">
                  <a:moveTo>
                    <a:pt x="4816602" y="0"/>
                  </a:moveTo>
                  <a:lnTo>
                    <a:pt x="4816602" y="479044"/>
                  </a:lnTo>
                  <a:lnTo>
                    <a:pt x="0" y="47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>
                <a:alpha val="4666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602" cy="51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89006" y="349316"/>
            <a:ext cx="11109988" cy="166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7"/>
              </a:lnSpc>
            </a:pPr>
            <a:r>
              <a:rPr lang="en-US" b="true" sz="4783" u="sng">
                <a:solidFill>
                  <a:srgbClr val="1800AD"/>
                </a:solidFill>
                <a:latin typeface="Garamond Bold"/>
                <a:ea typeface="Garamond Bold"/>
                <a:cs typeface="Garamond Bold"/>
                <a:sym typeface="Garamond Bold"/>
              </a:rPr>
              <a:t>RESEARCH AND RESOURCES </a:t>
            </a:r>
          </a:p>
          <a:p>
            <a:pPr algn="ctr">
              <a:lnSpc>
                <a:spcPts val="6697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499760" y="186657"/>
            <a:ext cx="2556330" cy="1210383"/>
          </a:xfrm>
          <a:custGeom>
            <a:avLst/>
            <a:gdLst/>
            <a:ahLst/>
            <a:cxnLst/>
            <a:rect r="r" b="b" t="t" l="l"/>
            <a:pathLst>
              <a:path h="1210383" w="2556330">
                <a:moveTo>
                  <a:pt x="0" y="0"/>
                </a:moveTo>
                <a:lnTo>
                  <a:pt x="2556330" y="0"/>
                </a:lnTo>
                <a:lnTo>
                  <a:pt x="2556330" y="1210383"/>
                </a:lnTo>
                <a:lnTo>
                  <a:pt x="0" y="12103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5438" y="2049695"/>
            <a:ext cx="17695338" cy="2431070"/>
            <a:chOff x="0" y="0"/>
            <a:chExt cx="4660501" cy="6402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0501" cy="640282"/>
            </a:xfrm>
            <a:custGeom>
              <a:avLst/>
              <a:gdLst/>
              <a:ahLst/>
              <a:cxnLst/>
              <a:rect r="r" b="b" t="t" l="l"/>
              <a:pathLst>
                <a:path h="640282" w="4660501">
                  <a:moveTo>
                    <a:pt x="0" y="0"/>
                  </a:moveTo>
                  <a:lnTo>
                    <a:pt x="4660501" y="0"/>
                  </a:lnTo>
                  <a:lnTo>
                    <a:pt x="4660501" y="640282"/>
                  </a:lnTo>
                  <a:lnTo>
                    <a:pt x="0" y="640282"/>
                  </a:lnTo>
                  <a:close/>
                </a:path>
              </a:pathLst>
            </a:custGeom>
            <a:solidFill>
              <a:srgbClr val="5CE1E6">
                <a:alpha val="2078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660501" cy="678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61327" y="2074354"/>
            <a:ext cx="17099449" cy="231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7"/>
              </a:lnSpc>
              <a:spcBef>
                <a:spcPct val="0"/>
              </a:spcBef>
            </a:pPr>
            <a:r>
              <a:rPr lang="en-US" b="true" sz="2633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Government and Policy Research-</a:t>
            </a:r>
          </a:p>
          <a:p>
            <a:pPr algn="l">
              <a:lnSpc>
                <a:spcPts val="2994"/>
              </a:lnSpc>
              <a:spcBef>
                <a:spcPct val="0"/>
              </a:spcBef>
            </a:pPr>
            <a:r>
              <a:rPr lang="en-US" sz="2139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https://idex.gov.in/idex</a:t>
            </a:r>
          </a:p>
          <a:p>
            <a:pPr algn="l">
              <a:lnSpc>
                <a:spcPts val="2994"/>
              </a:lnSpc>
              <a:spcBef>
                <a:spcPct val="0"/>
              </a:spcBef>
            </a:pPr>
            <a:r>
              <a:rPr lang="en-US" sz="2139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https://www.makeinindia.com/defense-acquisition-procedure </a:t>
            </a:r>
          </a:p>
          <a:p>
            <a:pPr algn="l">
              <a:lnSpc>
                <a:spcPts val="2994"/>
              </a:lnSpc>
              <a:spcBef>
                <a:spcPct val="0"/>
              </a:spcBef>
            </a:pPr>
            <a:r>
              <a:rPr lang="en-US" sz="2139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https://academic.oup.com/milmed/article/183/9-10/e547/4841664 </a:t>
            </a:r>
          </a:p>
          <a:p>
            <a:pPr algn="l">
              <a:lnSpc>
                <a:spcPts val="2994"/>
              </a:lnSpc>
              <a:spcBef>
                <a:spcPct val="0"/>
              </a:spcBef>
            </a:pPr>
            <a:r>
              <a:rPr lang="en-US" sz="2139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https://www.audiology.org/news-and-publications/audiology-today/articles/military-service-and-hearing-health-the-noise-study/ https://nap.nationalacademies.org/catalog/11443/noise-and-military-service-implications-for-hearing-loss-and-tinnitus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6312" y="7117779"/>
            <a:ext cx="15114676" cy="3682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5"/>
              </a:lnSpc>
              <a:spcBef>
                <a:spcPct val="0"/>
              </a:spcBef>
            </a:pPr>
            <a:r>
              <a:rPr lang="en-US" b="true" sz="2111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Biomimetic and Robotics Research Publications</a:t>
            </a:r>
          </a:p>
          <a:p>
            <a:pPr algn="l">
              <a:lnSpc>
                <a:spcPts val="2096"/>
              </a:lnSpc>
              <a:spcBef>
                <a:spcPct val="0"/>
              </a:spcBef>
            </a:pP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https://iopscience.iop.org/journal/1748-3190 https://www.science.org/journal/scirobotics https://ieeexplore.ieee.org/xpl/RecentIssue.jsp?punumber=8613444 https://ieeexplore.ieee.org/xpl/RecentIssue.jsp?punumber=8860 https://www.frontiersin.org/journals/bioengineering-and-biotechnology/sections/bionics-and-biomimetics https://www.nature.com/natmachintell/</a:t>
            </a:r>
          </a:p>
          <a:p>
            <a:pPr algn="l">
              <a:lnSpc>
                <a:spcPts val="2096"/>
              </a:lnSpc>
              <a:spcBef>
                <a:spcPct val="0"/>
              </a:spcBef>
            </a:pPr>
          </a:p>
          <a:p>
            <a:pPr algn="l">
              <a:lnSpc>
                <a:spcPts val="2096"/>
              </a:lnSpc>
              <a:spcBef>
                <a:spcPct val="0"/>
              </a:spcBef>
            </a:pPr>
            <a:r>
              <a:rPr lang="en-US" b="true" sz="1497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SOME MISCELLANEOUS</a:t>
            </a:r>
          </a:p>
          <a:p>
            <a:pPr algn="l">
              <a:lnSpc>
                <a:spcPts val="2096"/>
              </a:lnSpc>
            </a:pP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github.com/jeshraghian/snntorch"/>
              </a:rPr>
              <a:t>https://github.com/jeshraghian/snntorch</a:t>
            </a:r>
          </a:p>
          <a:p>
            <a:pPr algn="l">
              <a:lnSpc>
                <a:spcPts val="2096"/>
              </a:lnSpc>
            </a:pP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github.com/ARM-software/CMSIS-DSP"/>
              </a:rPr>
              <a:t>https://github.com/ARM-software/CMSIS-DSP</a:t>
            </a: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 ,</a:t>
            </a: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zenodo.org/records/1227121"/>
              </a:rPr>
              <a:t>https://zenodo.org/records/1227121</a:t>
            </a:r>
          </a:p>
          <a:p>
            <a:pPr algn="l">
              <a:lnSpc>
                <a:spcPts val="2096"/>
              </a:lnSpc>
            </a:pP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github.com/microsoft/DNS-Challenge"/>
              </a:rPr>
              <a:t>https://github.com/microsoft/DNS-Challenge</a:t>
            </a: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github.com/aliutkus/speechmetrics"/>
              </a:rPr>
              <a:t>https://github.com/aliutkus/speechmetrics</a:t>
            </a:r>
          </a:p>
          <a:p>
            <a:pPr algn="l">
              <a:lnSpc>
                <a:spcPts val="2096"/>
              </a:lnSpc>
            </a:pP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itu.int/rec/T-REC-P.862"/>
              </a:rPr>
              <a:t>https://www.itu.int/rec/T-REC-P.862</a:t>
            </a: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,</a:t>
            </a:r>
            <a:r>
              <a:rPr lang="en-US" sz="1497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quicksearch.dla.mil/qsDocDetails.aspx?ident_number=35978"/>
              </a:rPr>
              <a:t>https://quicksearch.dla.mil/qsDocDetails.aspx?ident_number=35978</a:t>
            </a:r>
          </a:p>
          <a:p>
            <a:pPr algn="l">
              <a:lnSpc>
                <a:spcPts val="2096"/>
              </a:lnSpc>
              <a:spcBef>
                <a:spcPct val="0"/>
              </a:spcBef>
            </a:pPr>
          </a:p>
          <a:p>
            <a:pPr algn="l">
              <a:lnSpc>
                <a:spcPts val="2955"/>
              </a:lnSpc>
              <a:spcBef>
                <a:spcPct val="0"/>
              </a:spcBef>
            </a:pPr>
          </a:p>
          <a:p>
            <a:pPr algn="l">
              <a:lnSpc>
                <a:spcPts val="1558"/>
              </a:lnSpc>
              <a:spcBef>
                <a:spcPct val="0"/>
              </a:spcBef>
            </a:pPr>
          </a:p>
          <a:p>
            <a:pPr algn="l">
              <a:lnSpc>
                <a:spcPts val="1558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95392" y="4528390"/>
            <a:ext cx="17131281" cy="217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7"/>
              </a:lnSpc>
              <a:spcBef>
                <a:spcPct val="0"/>
              </a:spcBef>
            </a:pPr>
            <a:r>
              <a:rPr lang="en-US" b="true" sz="2669" u="sng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Commercial Software and HIL Hardware Tooling</a:t>
            </a:r>
          </a:p>
          <a:p>
            <a:pPr algn="just">
              <a:lnSpc>
                <a:spcPts val="2757"/>
              </a:lnSpc>
              <a:spcBef>
                <a:spcPct val="0"/>
              </a:spcBef>
            </a:pPr>
            <a:r>
              <a:rPr lang="en-US" sz="1969">
                <a:solidFill>
                  <a:srgbClr val="1800AD"/>
                </a:solidFill>
                <a:latin typeface="Canva Sans"/>
                <a:ea typeface="Canva Sans"/>
                <a:cs typeface="Canva Sans"/>
                <a:sym typeface="Canva Sans"/>
              </a:rPr>
              <a:t>https://www.speedgoat.com/solutions/industries/consumer-electronics/audio-simulation-control-and-testing https://www.mathworks.com/hardware-support/real-time-simulation-and-testing-with-speedgoat-hardware.html https://www.dspace.com/en/inc/home/products/hw/scalexio.html https://www.mathworks.com/products/connections/product_detail/dspace-hil-test.html https://www.ap.com/analyzers-accessories/apx500/ https://www.ni.com/en/solutions/aerospace-defense/embedded-software-test.html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57172" y="145647"/>
            <a:ext cx="2531734" cy="1527505"/>
          </a:xfrm>
          <a:custGeom>
            <a:avLst/>
            <a:gdLst/>
            <a:ahLst/>
            <a:cxnLst/>
            <a:rect r="r" b="b" t="t" l="l"/>
            <a:pathLst>
              <a:path h="1527505" w="2531734">
                <a:moveTo>
                  <a:pt x="0" y="0"/>
                </a:moveTo>
                <a:lnTo>
                  <a:pt x="2531734" y="0"/>
                </a:lnTo>
                <a:lnTo>
                  <a:pt x="2531734" y="1527505"/>
                </a:lnTo>
                <a:lnTo>
                  <a:pt x="0" y="15275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5438" y="4585540"/>
            <a:ext cx="17695338" cy="2098718"/>
            <a:chOff x="0" y="0"/>
            <a:chExt cx="4660501" cy="5527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0501" cy="552749"/>
            </a:xfrm>
            <a:custGeom>
              <a:avLst/>
              <a:gdLst/>
              <a:ahLst/>
              <a:cxnLst/>
              <a:rect r="r" b="b" t="t" l="l"/>
              <a:pathLst>
                <a:path h="552749" w="4660501">
                  <a:moveTo>
                    <a:pt x="0" y="0"/>
                  </a:moveTo>
                  <a:lnTo>
                    <a:pt x="4660501" y="0"/>
                  </a:lnTo>
                  <a:lnTo>
                    <a:pt x="4660501" y="552749"/>
                  </a:lnTo>
                  <a:lnTo>
                    <a:pt x="0" y="552749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660501" cy="590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6812979"/>
            <a:ext cx="17649615" cy="3130881"/>
            <a:chOff x="0" y="0"/>
            <a:chExt cx="4648458" cy="8245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48459" cy="824594"/>
            </a:xfrm>
            <a:custGeom>
              <a:avLst/>
              <a:gdLst/>
              <a:ahLst/>
              <a:cxnLst/>
              <a:rect r="r" b="b" t="t" l="l"/>
              <a:pathLst>
                <a:path h="824594" w="4648459">
                  <a:moveTo>
                    <a:pt x="0" y="0"/>
                  </a:moveTo>
                  <a:lnTo>
                    <a:pt x="4648459" y="0"/>
                  </a:lnTo>
                  <a:lnTo>
                    <a:pt x="4648459" y="824594"/>
                  </a:lnTo>
                  <a:lnTo>
                    <a:pt x="0" y="824594"/>
                  </a:lnTo>
                  <a:close/>
                </a:path>
              </a:pathLst>
            </a:custGeom>
            <a:solidFill>
              <a:srgbClr val="E2A9F1">
                <a:alpha val="2078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648458" cy="862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DAHTvXfvHn4</dc:identifier>
  <dcterms:modified xsi:type="dcterms:W3CDTF">2011-08-01T06:04:30Z</dcterms:modified>
  <cp:revision>1</cp:revision>
  <dc:title>SMART INDIA HACKATHON 2026</dc:title>
</cp:coreProperties>
</file>